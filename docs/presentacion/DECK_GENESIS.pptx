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57200" cy="254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5400" cy="4572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0" y="320040"/>
            <a:ext cx="457200" cy="254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0" y="320040"/>
            <a:ext cx="25400" cy="4572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080760"/>
            <a:ext cx="457200" cy="254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648960"/>
            <a:ext cx="25400" cy="4572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0" y="6080760"/>
            <a:ext cx="457200" cy="254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0" y="5648960"/>
            <a:ext cx="25400" cy="4572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92727" y="1143000"/>
            <a:ext cx="4206240" cy="4206240"/>
          </a:xfrm>
          <a:prstGeom prst="ellipse">
            <a:avLst/>
          </a:prstGeom>
          <a:noFill/>
          <a:ln w="12700">
            <a:solidFill>
              <a:srgbClr val="1F6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6967" y="777240"/>
            <a:ext cx="4937760" cy="4937760"/>
          </a:xfrm>
          <a:prstGeom prst="ellipse">
            <a:avLst/>
          </a:prstGeom>
          <a:noFill/>
          <a:ln w="12700">
            <a:solidFill>
              <a:srgbClr val="1F6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4267047" y="1417320"/>
            <a:ext cx="3657600" cy="3657600"/>
          </a:xfrm>
          <a:prstGeom prst="arc">
            <a:avLst/>
          </a:prstGeom>
          <a:noFill/>
          <a:ln w="31750">
            <a:solidFill>
              <a:srgbClr val="2DF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11274552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4FBF8"/>
                </a:solidFill>
                <a:latin typeface="Segoe UI Semibold"/>
              </a:rPr>
              <a:t>GENESIS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DFFAE"/>
                </a:solidFill>
                <a:latin typeface="Segoe UI"/>
              </a:rPr>
              <a:t>Asistente de IA personal, 100%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i="1">
                <a:solidFill>
                  <a:srgbClr val="9FC7BB"/>
                </a:solidFill>
                <a:latin typeface="Segoe UI"/>
              </a:rPr>
              <a:t>Privado  ·  Sin nube  ·  Soberano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9FC7BB"/>
                </a:solidFill>
                <a:latin typeface="Segoe UI"/>
              </a:rPr>
              <a:t>Alex Quiñones —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280160" cy="508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4FBF8"/>
                </a:solidFill>
                <a:latin typeface="Segoe UI Semibold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FFAE"/>
                </a:solidFill>
                <a:latin typeface="Segoe UI"/>
              </a:rPr>
              <a:t>Los asistentes de IA hoy te cuestan tu privacidad.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☁️ Dependen de la nube</a:t>
            </a:r>
            <a:r>
              <a:rPr sz="1900" b="0">
                <a:solidFill>
                  <a:srgbClr val="9FC7BB"/>
                </a:solidFill>
                <a:latin typeface="Segoe UI"/>
              </a:rPr>
              <a:t> → sin internet no funcionan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0">
                <a:solidFill>
                  <a:srgbClr val="9FC7BB"/>
                </a:solidFill>
                <a:latin typeface="Segoe UI"/>
              </a:rPr>
              <a:t>🔓 Tus conversaciones y archivos viajan a terceros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0">
                <a:solidFill>
                  <a:srgbClr val="9FC7BB"/>
                </a:solidFill>
                <a:latin typeface="Segoe UI"/>
              </a:rPr>
              <a:t>💳 Suscripciones y cobros por uso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0">
                <a:solidFill>
                  <a:srgbClr val="9FC7BB"/>
                </a:solidFill>
                <a:latin typeface="Segoe UI"/>
              </a:rPr>
              <a:t>🔒 Caja negra: no controlas el modelo ni tus datos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0">
                <a:solidFill>
                  <a:srgbClr val="9FC7BB"/>
                </a:solidFill>
                <a:latin typeface="Segoe UI"/>
              </a:rPr>
              <a:t>🗣️ Solo conversan; no actuan sobre tu equipo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1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FC7BB"/>
                </a:solidFill>
                <a:latin typeface="Segoe UI"/>
              </a:rPr>
              <a:t>GENESIS  ·  Asistente de IA personal, 100%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99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8C98A"/>
                </a:solidFill>
                <a:latin typeface="Segoe UI Semibold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280160" cy="508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4FBF8"/>
                </a:solidFill>
                <a:latin typeface="Segoe UI Semibold"/>
              </a:rPr>
              <a:t>La solucion: GENESIS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FFAE"/>
                </a:solidFill>
                <a:latin typeface="Segoe UI"/>
              </a:rPr>
              <a:t>Un asistente que corre entero en tu PC.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0">
                <a:solidFill>
                  <a:srgbClr val="9FC7BB"/>
                </a:solidFill>
                <a:latin typeface="Segoe UI"/>
              </a:rPr>
              <a:t>✅ </a:t>
            </a:r>
            <a:r>
              <a:rPr sz="1900" b="1">
                <a:solidFill>
                  <a:srgbClr val="F4FBF8"/>
                </a:solidFill>
                <a:latin typeface="Segoe UI"/>
              </a:rPr>
              <a:t>100% local</a:t>
            </a:r>
            <a:r>
              <a:rPr sz="1900" b="0">
                <a:solidFill>
                  <a:srgbClr val="9FC7BB"/>
                </a:solidFill>
                <a:latin typeface="Segoe UI"/>
              </a:rPr>
              <a:t> — funciona sin internet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0">
                <a:solidFill>
                  <a:srgbClr val="9FC7BB"/>
                </a:solidFill>
                <a:latin typeface="Segoe UI"/>
              </a:rPr>
              <a:t>✅ </a:t>
            </a:r>
            <a:r>
              <a:rPr sz="1900" b="1">
                <a:solidFill>
                  <a:srgbClr val="F4FBF8"/>
                </a:solidFill>
                <a:latin typeface="Segoe UI"/>
              </a:rPr>
              <a:t>Privado por diseno</a:t>
            </a:r>
            <a:r>
              <a:rPr sz="1900" b="0">
                <a:solidFill>
                  <a:srgbClr val="9FC7BB"/>
                </a:solidFill>
                <a:latin typeface="Segoe UI"/>
              </a:rPr>
              <a:t> — tus datos nunca salen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0">
                <a:solidFill>
                  <a:srgbClr val="9FC7BB"/>
                </a:solidFill>
                <a:latin typeface="Segoe UI"/>
              </a:rPr>
              <a:t>✅ </a:t>
            </a:r>
            <a:r>
              <a:rPr sz="1900" b="1">
                <a:solidFill>
                  <a:srgbClr val="F4FBF8"/>
                </a:solidFill>
                <a:latin typeface="Segoe UI"/>
              </a:rPr>
              <a:t>Sin suscripciones</a:t>
            </a:r>
            <a:r>
              <a:rPr sz="1900" b="0">
                <a:solidFill>
                  <a:srgbClr val="9FC7BB"/>
                </a:solidFill>
                <a:latin typeface="Segoe UI"/>
              </a:rPr>
              <a:t> — no necesita APIs de pago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0">
                <a:solidFill>
                  <a:srgbClr val="9FC7BB"/>
                </a:solidFill>
                <a:latin typeface="Segoe UI"/>
              </a:rPr>
              <a:t>✅ </a:t>
            </a:r>
            <a:r>
              <a:rPr sz="1900" b="1">
                <a:solidFill>
                  <a:srgbClr val="F4FBF8"/>
                </a:solidFill>
                <a:latin typeface="Segoe UI"/>
              </a:rPr>
              <a:t>Controlas el modelo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0">
                <a:solidFill>
                  <a:srgbClr val="9FC7BB"/>
                </a:solidFill>
                <a:latin typeface="Segoe UI"/>
              </a:rPr>
              <a:t>✅ </a:t>
            </a:r>
            <a:r>
              <a:rPr sz="1900" b="1">
                <a:solidFill>
                  <a:srgbClr val="F4FBF8"/>
                </a:solidFill>
                <a:latin typeface="Segoe UI"/>
              </a:rPr>
              <a:t>Actua</a:t>
            </a:r>
            <a:r>
              <a:rPr sz="1900" b="0">
                <a:solidFill>
                  <a:srgbClr val="9FC7BB"/>
                </a:solidFill>
                <a:latin typeface="Segoe UI"/>
              </a:rPr>
              <a:t> sobre tu sistema, no solo conversa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1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FC7BB"/>
                </a:solidFill>
                <a:latin typeface="Segoe UI"/>
              </a:rPr>
              <a:t>GENESIS  ·  Asistente de IA personal, 100%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99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8C98A"/>
                </a:solidFill>
                <a:latin typeface="Segoe UI Semibold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280160" cy="508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4FBF8"/>
                </a:solidFill>
                <a:latin typeface="Segoe UI Semibold"/>
              </a:rPr>
              <a:t>Que hace (sentidos y creacion)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FFAE"/>
                </a:solidFill>
                <a:latin typeface="Segoe UI"/>
              </a:rPr>
              <a:t>Piensa  ·  Ve  ·  Habla  ·  Crea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2000" b="1">
                <a:solidFill>
                  <a:srgbClr val="F4FBF8"/>
                </a:solidFill>
                <a:latin typeface="Segoe UI"/>
              </a:rPr>
              <a:t>🧠 Lenguaje: </a:t>
            </a:r>
            <a:r>
              <a:rPr sz="2000" b="0">
                <a:solidFill>
                  <a:srgbClr val="9FC7BB"/>
                </a:solidFill>
                <a:latin typeface="Segoe UI"/>
              </a:rPr>
              <a:t>modelos locales (Ollama) con router y memoria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2000" b="1">
                <a:solidFill>
                  <a:srgbClr val="F4FBF8"/>
                </a:solidFill>
                <a:latin typeface="Segoe UI"/>
              </a:rPr>
              <a:t>🎙️ Voz: </a:t>
            </a:r>
            <a:r>
              <a:rPr sz="2000" b="0">
                <a:solidFill>
                  <a:srgbClr val="9FC7BB"/>
                </a:solidFill>
                <a:latin typeface="Segoe UI"/>
              </a:rPr>
              <a:t>22 voces + </a:t>
            </a:r>
            <a:r>
              <a:rPr sz="2000" b="1">
                <a:solidFill>
                  <a:srgbClr val="F4FBF8"/>
                </a:solidFill>
                <a:latin typeface="Segoe UI"/>
              </a:rPr>
              <a:t>clonacion de voz</a:t>
            </a:r>
            <a:r>
              <a:rPr sz="2000" b="0">
                <a:solidFill>
                  <a:srgbClr val="9FC7BB"/>
                </a:solidFill>
                <a:latin typeface="Segoe UI"/>
              </a:rPr>
              <a:t> local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2000" b="1">
                <a:solidFill>
                  <a:srgbClr val="F4FBF8"/>
                </a:solidFill>
                <a:latin typeface="Segoe UI"/>
              </a:rPr>
              <a:t>🎨 Imagenes: </a:t>
            </a:r>
            <a:r>
              <a:rPr sz="2000" b="0">
                <a:solidFill>
                  <a:srgbClr val="9FC7BB"/>
                </a:solidFill>
                <a:latin typeface="Segoe UI"/>
              </a:rPr>
              <a:t>Stable Diffusion en tu GPU (offline)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2000" b="1">
                <a:solidFill>
                  <a:srgbClr val="F4FBF8"/>
                </a:solidFill>
                <a:latin typeface="Segoe UI"/>
              </a:rPr>
              <a:t>👁️ Vision: </a:t>
            </a:r>
            <a:r>
              <a:rPr sz="2000" b="0">
                <a:solidFill>
                  <a:srgbClr val="9FC7BB"/>
                </a:solidFill>
                <a:latin typeface="Segoe UI"/>
              </a:rPr>
              <a:t>analiza imagenes y pantalla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1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FC7BB"/>
                </a:solidFill>
                <a:latin typeface="Segoe UI"/>
              </a:rPr>
              <a:t>GENESIS  ·  Asistente de IA personal, 100%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99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8C98A"/>
                </a:solidFill>
                <a:latin typeface="Segoe UI Semibold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280160" cy="508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4FBF8"/>
                </a:solidFill>
                <a:latin typeface="Segoe UI Semibold"/>
              </a:rPr>
              <a:t>Que hace (accion real)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FFAE"/>
                </a:solidFill>
                <a:latin typeface="Segoe UI"/>
              </a:rPr>
              <a:t>Controla tu computadora de verdad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🎛️ Sistema: </a:t>
            </a:r>
            <a:r>
              <a:rPr sz="1900" b="0">
                <a:solidFill>
                  <a:srgbClr val="9FC7BB"/>
                </a:solidFill>
                <a:latin typeface="Segoe UI"/>
              </a:rPr>
              <a:t>volumen, brillo, energia, impresion, multi-monitor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🔌 Conexiones: </a:t>
            </a:r>
            <a:r>
              <a:rPr sz="1900" b="0">
                <a:solidFill>
                  <a:srgbClr val="9FC7BB"/>
                </a:solidFill>
                <a:latin typeface="Segoe UI"/>
              </a:rPr>
              <a:t>WiFi, Bluetooth, USB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📂 Archivos y apps: </a:t>
            </a:r>
            <a:r>
              <a:rPr sz="1900" b="0">
                <a:solidFill>
                  <a:srgbClr val="9FC7BB"/>
                </a:solidFill>
                <a:latin typeface="Segoe UI"/>
              </a:rPr>
              <a:t>abrir, buscar, gestionar (papelera segura)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📺 Musica y casting a TV </a:t>
            </a:r>
            <a:r>
              <a:rPr sz="1900" b="0">
                <a:solidFill>
                  <a:srgbClr val="9FC7BB"/>
                </a:solidFill>
                <a:latin typeface="Segoe UI"/>
              </a:rPr>
              <a:t>(Chromecast) + streaming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0">
                <a:solidFill>
                  <a:srgbClr val="9FC7BB"/>
                </a:solidFill>
                <a:latin typeface="Segoe UI"/>
              </a:rPr>
              <a:t>📧 Correo, despertador con voz, recordatorios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1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FC7BB"/>
                </a:solidFill>
                <a:latin typeface="Segoe UI"/>
              </a:rPr>
              <a:t>GENESIS  ·  Asistente de IA personal, 100%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99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8C98A"/>
                </a:solidFill>
                <a:latin typeface="Segoe UI Semibold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280160" cy="508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4FBF8"/>
                </a:solidFill>
                <a:latin typeface="Segoe UI Semibold"/>
              </a:rPr>
              <a:t>Interfaz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FFAE"/>
                </a:solidFill>
                <a:latin typeface="Segoe UI"/>
              </a:rPr>
              <a:t>Una cabina tipo “JARVIS”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600" b="0">
                <a:solidFill>
                  <a:srgbClr val="9FC7BB"/>
                </a:solidFill>
                <a:latin typeface="Segoe UI"/>
              </a:rPr>
              <a:t>Núcleo de plasma reactivo a la voz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600" b="0">
                <a:solidFill>
                  <a:srgbClr val="9FC7BB"/>
                </a:solidFill>
                <a:latin typeface="Segoe UI"/>
              </a:rPr>
              <a:t>Dock de acciones rapidas (buscar, web, musica, crear, ver, nucleo)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600" b="0">
                <a:solidFill>
                  <a:srgbClr val="9FC7BB"/>
                </a:solidFill>
                <a:latin typeface="Segoe UI"/>
              </a:rPr>
              <a:t>Tablero de evidencias + telemetria del sistema en vivo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600" b="0">
                <a:solidFill>
                  <a:srgbClr val="9FC7BB"/>
                </a:solidFill>
                <a:latin typeface="Segoe UI"/>
              </a:rPr>
              <a:t>App de escritorio + interfaz web local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103120"/>
            <a:ext cx="5120640" cy="3657600"/>
          </a:xfrm>
          <a:prstGeom prst="roundRect">
            <a:avLst>
              <a:gd name="adj" fmla="val 4000"/>
            </a:avLst>
          </a:prstGeom>
          <a:solidFill>
            <a:srgbClr val="0D2230"/>
          </a:solidFill>
          <a:ln w="12700">
            <a:solidFill>
              <a:srgbClr val="2DF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>
                <a:solidFill>
                  <a:srgbClr val="2DFFAE"/>
                </a:solidFill>
              </a:rPr>
              <a:t>🖼️</a:t>
            </a:r>
          </a:p>
          <a:p>
            <a:pPr algn="ctr"/>
            <a:r>
              <a:rPr sz="1300" i="1">
                <a:solidFill>
                  <a:srgbClr val="9FC7BB"/>
                </a:solidFill>
                <a:latin typeface="Segoe UI"/>
              </a:rPr>
              <a:t>(Insertar captura de pantalla del hub aqui.)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1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FC7BB"/>
                </a:solidFill>
                <a:latin typeface="Segoe UI"/>
              </a:rPr>
              <a:t>GENESIS  ·  Asistente de IA personal, 100%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99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8C98A"/>
                </a:solidFill>
                <a:latin typeface="Segoe UI Semibold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280160" cy="508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4FBF8"/>
                </a:solidFill>
                <a:latin typeface="Segoe UI Semibold"/>
              </a:rPr>
              <a:t>El diferencial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1078992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31920"/>
                <a:gridCol w="3429000"/>
                <a:gridCol w="3429000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2DFFAE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64592" marR="91440" marT="54864" marB="54864" anchor="ctr">
                    <a:solidFill>
                      <a:srgbClr val="0716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2DFFAE"/>
                          </a:solidFill>
                          <a:latin typeface="Segoe UI"/>
                        </a:rPr>
                        <a:t>GENESIS</a:t>
                      </a:r>
                    </a:p>
                  </a:txBody>
                  <a:tcPr marL="164592" marR="91440" marT="54864" marB="54864" anchor="ctr">
                    <a:solidFill>
                      <a:srgbClr val="0716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2DFFAE"/>
                          </a:solidFill>
                          <a:latin typeface="Segoe UI"/>
                        </a:rPr>
                        <a:t>Comerciales</a:t>
                      </a:r>
                    </a:p>
                  </a:txBody>
                  <a:tcPr marL="164592" marR="91440" marT="54864" marB="54864" anchor="ctr">
                    <a:solidFill>
                      <a:srgbClr val="07161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4FBF8"/>
                          </a:solidFill>
                          <a:latin typeface="Segoe UI"/>
                        </a:rPr>
                        <a:t>Procesamiento</a:t>
                      </a:r>
                    </a:p>
                  </a:txBody>
                  <a:tcPr marL="164592" marR="91440" marT="54864" marB="54864" anchor="ctr">
                    <a:solidFill>
                      <a:srgbClr val="0E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DFFAE"/>
                          </a:solidFill>
                          <a:latin typeface="Segoe UI"/>
                        </a:rPr>
                        <a:t>Local</a:t>
                      </a:r>
                    </a:p>
                  </a:txBody>
                  <a:tcPr marL="164592" marR="91440" marT="54864" marB="54864" anchor="ctr">
                    <a:solidFill>
                      <a:srgbClr val="0E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FC7BB"/>
                          </a:solidFill>
                          <a:latin typeface="Segoe UI"/>
                        </a:rPr>
                        <a:t>Nube</a:t>
                      </a:r>
                    </a:p>
                  </a:txBody>
                  <a:tcPr marL="164592" marR="91440" marT="54864" marB="54864" anchor="ctr">
                    <a:solidFill>
                      <a:srgbClr val="0E2633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4FBF8"/>
                          </a:solidFill>
                          <a:latin typeface="Segoe UI"/>
                        </a:rPr>
                        <a:t>Privacidad</a:t>
                      </a:r>
                    </a:p>
                  </a:txBody>
                  <a:tcPr marL="164592" marR="91440" marT="54864" marB="54864" anchor="ctr">
                    <a:solidFill>
                      <a:srgbClr val="102E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DFFAE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164592" marR="91440" marT="54864" marB="54864" anchor="ctr">
                    <a:solidFill>
                      <a:srgbClr val="102E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FC7BB"/>
                          </a:solidFill>
                          <a:latin typeface="Segoe UI"/>
                        </a:rPr>
                        <a:t>Terceros</a:t>
                      </a:r>
                    </a:p>
                  </a:txBody>
                  <a:tcPr marL="164592" marR="91440" marT="54864" marB="54864" anchor="ctr">
                    <a:solidFill>
                      <a:srgbClr val="102E3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4FBF8"/>
                          </a:solidFill>
                          <a:latin typeface="Segoe UI"/>
                        </a:rPr>
                        <a:t>Offline</a:t>
                      </a:r>
                    </a:p>
                  </a:txBody>
                  <a:tcPr marL="164592" marR="91440" marT="54864" marB="54864" anchor="ctr">
                    <a:solidFill>
                      <a:srgbClr val="0E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DFFAE"/>
                          </a:solidFill>
                          <a:latin typeface="Segoe UI"/>
                        </a:rPr>
                        <a:t>Si</a:t>
                      </a:r>
                    </a:p>
                  </a:txBody>
                  <a:tcPr marL="164592" marR="91440" marT="54864" marB="54864" anchor="ctr">
                    <a:solidFill>
                      <a:srgbClr val="0E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FC7B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64592" marR="91440" marT="54864" marB="54864" anchor="ctr">
                    <a:solidFill>
                      <a:srgbClr val="0E2633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4FBF8"/>
                          </a:solidFill>
                          <a:latin typeface="Segoe UI"/>
                        </a:rPr>
                        <a:t>Costo</a:t>
                      </a:r>
                    </a:p>
                  </a:txBody>
                  <a:tcPr marL="164592" marR="91440" marT="54864" marB="54864" anchor="ctr">
                    <a:solidFill>
                      <a:srgbClr val="102E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DFFAE"/>
                          </a:solidFill>
                          <a:latin typeface="Segoe UI"/>
                        </a:rPr>
                        <a:t>$0 recurrente</a:t>
                      </a:r>
                    </a:p>
                  </a:txBody>
                  <a:tcPr marL="164592" marR="91440" marT="54864" marB="54864" anchor="ctr">
                    <a:solidFill>
                      <a:srgbClr val="102E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FC7BB"/>
                          </a:solidFill>
                          <a:latin typeface="Segoe UI"/>
                        </a:rPr>
                        <a:t>Suscripcion</a:t>
                      </a:r>
                    </a:p>
                  </a:txBody>
                  <a:tcPr marL="164592" marR="91440" marT="54864" marB="54864" anchor="ctr">
                    <a:solidFill>
                      <a:srgbClr val="102E3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4FBF8"/>
                          </a:solidFill>
                          <a:latin typeface="Segoe UI"/>
                        </a:rPr>
                        <a:t>Accion en el equipo</a:t>
                      </a:r>
                    </a:p>
                  </a:txBody>
                  <a:tcPr marL="164592" marR="91440" marT="54864" marB="54864" anchor="ctr">
                    <a:solidFill>
                      <a:srgbClr val="0E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DFFAE"/>
                          </a:solidFill>
                          <a:latin typeface="Segoe UI"/>
                        </a:rPr>
                        <a:t>Amplia</a:t>
                      </a:r>
                    </a:p>
                  </a:txBody>
                  <a:tcPr marL="164592" marR="91440" marT="54864" marB="54864" anchor="ctr">
                    <a:solidFill>
                      <a:srgbClr val="0E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FC7BB"/>
                          </a:solidFill>
                          <a:latin typeface="Segoe UI"/>
                        </a:rPr>
                        <a:t>Limitada</a:t>
                      </a:r>
                    </a:p>
                  </a:txBody>
                  <a:tcPr marL="164592" marR="91440" marT="54864" marB="54864" anchor="ctr">
                    <a:solidFill>
                      <a:srgbClr val="0E263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3492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4FBF8"/>
                </a:solidFill>
                <a:latin typeface="Segoe UI Semibold"/>
              </a:rPr>
              <a:t>No es otro modelo: es integracion local y soberana que actua.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1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FC7BB"/>
                </a:solidFill>
                <a:latin typeface="Segoe UI"/>
              </a:rPr>
              <a:t>GENESIS  ·  Asistente de IA personal, 100%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99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8C98A"/>
                </a:solidFill>
                <a:latin typeface="Segoe UI Semibold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280160" cy="508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4FBF8"/>
                </a:solidFill>
                <a:latin typeface="Segoe UI Semibold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FFAE"/>
                </a:solidFill>
                <a:latin typeface="Segoe UI"/>
              </a:rPr>
              <a:t>Modular y escalable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Núcleo de orquestacion </a:t>
            </a:r>
            <a:r>
              <a:rPr sz="1900" b="0">
                <a:solidFill>
                  <a:srgbClr val="9FC7BB"/>
                </a:solidFill>
                <a:latin typeface="Segoe UI"/>
              </a:rPr>
              <a:t>→ despacha a cada capacidad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Motor LLM local (Ollama) </a:t>
            </a:r>
            <a:r>
              <a:rPr sz="1900" b="0">
                <a:solidFill>
                  <a:srgbClr val="9FC7BB"/>
                </a:solidFill>
                <a:latin typeface="Segoe UI"/>
              </a:rPr>
              <a:t>+ router multi-proveedor con failover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Capacidades aisladas </a:t>
            </a:r>
            <a:r>
              <a:rPr sz="1900" b="0">
                <a:solidFill>
                  <a:srgbClr val="9FC7BB"/>
                </a:solidFill>
                <a:latin typeface="Segoe UI"/>
              </a:rPr>
              <a:t>(core/*.py): voz, imagen, sistema, memoria…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0">
                <a:solidFill>
                  <a:srgbClr val="9FC7BB"/>
                </a:solidFill>
                <a:latin typeface="Segoe UI"/>
              </a:rPr>
              <a:t>Memoria con recuperacion semantica (RAG)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212080"/>
            <a:ext cx="10789920" cy="777240"/>
          </a:xfrm>
          <a:prstGeom prst="roundRect">
            <a:avLst>
              <a:gd name="adj" fmla="val 4000"/>
            </a:avLst>
          </a:prstGeom>
          <a:solidFill>
            <a:srgbClr val="0D2230"/>
          </a:solidFill>
          <a:ln w="12700">
            <a:solidFill>
              <a:srgbClr val="18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2DFFAE"/>
                </a:solidFill>
                <a:latin typeface="Segoe UI"/>
              </a:rPr>
              <a:t>Principios:  local-first  ·  aislamiento  ·  degradacion gracil  ·  seguridad en la auto-mejora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1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FC7BB"/>
                </a:solidFill>
                <a:latin typeface="Segoe UI"/>
              </a:rPr>
              <a:t>GENESIS  ·  Asistente de IA personal, 100%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99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8C98A"/>
                </a:solidFill>
                <a:latin typeface="Segoe UI Semibold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280160" cy="508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4FBF8"/>
                </a:solidFill>
                <a:latin typeface="Segoe UI Semibold"/>
              </a:rPr>
              <a:t>Estado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FFAE"/>
                </a:solidFill>
                <a:latin typeface="Segoe UI"/>
              </a:rPr>
              <a:t>Funcional y en uso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2542032" cy="2011680"/>
          </a:xfrm>
          <a:prstGeom prst="roundRect">
            <a:avLst>
              <a:gd name="adj" fmla="val 4000"/>
            </a:avLst>
          </a:prstGeom>
          <a:solidFill>
            <a:srgbClr val="0D2230"/>
          </a:solidFill>
          <a:ln w="12700">
            <a:solidFill>
              <a:srgbClr val="2DF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DFFAE"/>
                </a:solidFill>
                <a:latin typeface="Segoe UI Semibold"/>
              </a:rPr>
              <a:t>~146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9FC7BB"/>
                </a:solidFill>
                <a:latin typeface="Segoe UI"/>
              </a:rPr>
              <a:t>modulos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2240280"/>
            <a:ext cx="2542032" cy="2011680"/>
          </a:xfrm>
          <a:prstGeom prst="roundRect">
            <a:avLst>
              <a:gd name="adj" fmla="val 4000"/>
            </a:avLst>
          </a:prstGeom>
          <a:solidFill>
            <a:srgbClr val="0D2230"/>
          </a:solidFill>
          <a:ln w="12700">
            <a:solidFill>
              <a:srgbClr val="2DF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DFFAE"/>
                </a:solidFill>
                <a:latin typeface="Segoe UI Semibold"/>
              </a:rPr>
              <a:t>~96.000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9FC7BB"/>
                </a:solidFill>
                <a:latin typeface="Segoe UI"/>
              </a:rPr>
              <a:t>lineas de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2240280"/>
            <a:ext cx="2542032" cy="2011680"/>
          </a:xfrm>
          <a:prstGeom prst="roundRect">
            <a:avLst>
              <a:gd name="adj" fmla="val 4000"/>
            </a:avLst>
          </a:prstGeom>
          <a:solidFill>
            <a:srgbClr val="0D2230"/>
          </a:solidFill>
          <a:ln w="12700">
            <a:solidFill>
              <a:srgbClr val="2DF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DFFAE"/>
                </a:solidFill>
                <a:latin typeface="Segoe UI Semibold"/>
              </a:rPr>
              <a:t>v1.0 → v6.1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9FC7BB"/>
                </a:solidFill>
                <a:latin typeface="Segoe UI"/>
              </a:rPr>
              <a:t>evolucion documentada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2832" y="2240280"/>
            <a:ext cx="2542032" cy="2011680"/>
          </a:xfrm>
          <a:prstGeom prst="roundRect">
            <a:avLst>
              <a:gd name="adj" fmla="val 4000"/>
            </a:avLst>
          </a:prstGeom>
          <a:solidFill>
            <a:srgbClr val="0D2230"/>
          </a:solidFill>
          <a:ln w="12700">
            <a:solidFill>
              <a:srgbClr val="2DF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DFFAE"/>
                </a:solidFill>
                <a:latin typeface="Segoe UI Semibold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9FC7BB"/>
                </a:solidFill>
                <a:latin typeface="Segoe UI"/>
              </a:rPr>
              <a:t>modelos locales (general + codigo)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0916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800" b="0">
                <a:solidFill>
                  <a:srgbClr val="9FC7BB"/>
                </a:solidFill>
                <a:latin typeface="Segoe UI"/>
              </a:rPr>
              <a:t>✅ Suite de pruebas amplia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1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FC7BB"/>
                </a:solidFill>
                <a:latin typeface="Segoe UI"/>
              </a:rPr>
              <a:t>GENESIS  ·  Asistente de IA personal, 100%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399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8C98A"/>
                </a:solidFill>
                <a:latin typeface="Segoe UI Semibold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280160" cy="508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4FBF8"/>
                </a:solidFill>
                <a:latin typeface="Segoe UI Semibold"/>
              </a:rPr>
              <a:t>Roadmap: v7.0 “Unbound”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FFAE"/>
                </a:solidFill>
                <a:latin typeface="Segoe UI"/>
              </a:rPr>
              <a:t>La proxima evolucion, en 4 lineas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0D2230"/>
          </a:solidFill>
          <a:ln w="19050">
            <a:solidFill>
              <a:srgbClr val="2DF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DFFAE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94560"/>
            <a:ext cx="9784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>
                <a:solidFill>
                  <a:srgbClr val="F4FBF8"/>
                </a:solidFill>
                <a:latin typeface="Segoe UI Semibold"/>
              </a:rPr>
              <a:t>🎛️ Conductor  —  </a:t>
            </a:r>
            <a:r>
              <a:rPr sz="1700">
                <a:solidFill>
                  <a:srgbClr val="9FC7BB"/>
                </a:solidFill>
                <a:latin typeface="Segoe UI"/>
              </a:rPr>
              <a:t>orquestar recursos (GPU) + plataforma de tools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36392"/>
            <a:ext cx="777240" cy="777240"/>
          </a:xfrm>
          <a:prstGeom prst="ellipse">
            <a:avLst/>
          </a:prstGeom>
          <a:solidFill>
            <a:srgbClr val="0D2230"/>
          </a:solidFill>
          <a:ln w="19050">
            <a:solidFill>
              <a:srgbClr val="2DF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DFFAE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136392"/>
            <a:ext cx="9784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>
                <a:solidFill>
                  <a:srgbClr val="F4FBF8"/>
                </a:solidFill>
                <a:latin typeface="Segoe UI Semibold"/>
              </a:rPr>
              <a:t>👁️ Sentidos en tiempo real  —  </a:t>
            </a:r>
            <a:r>
              <a:rPr sz="1700">
                <a:solidFill>
                  <a:srgbClr val="9FC7BB"/>
                </a:solidFill>
                <a:latin typeface="Segoe UI"/>
              </a:rPr>
              <a:t>vision continua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078224"/>
            <a:ext cx="777240" cy="777240"/>
          </a:xfrm>
          <a:prstGeom prst="ellipse">
            <a:avLst/>
          </a:prstGeom>
          <a:solidFill>
            <a:srgbClr val="0D2230"/>
          </a:solidFill>
          <a:ln w="19050">
            <a:solidFill>
              <a:srgbClr val="2DF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DFFAE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078224"/>
            <a:ext cx="9784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>
                <a:solidFill>
                  <a:srgbClr val="F4FBF8"/>
                </a:solidFill>
                <a:latin typeface="Segoe UI Semibold"/>
              </a:rPr>
              <a:t>🤖 Autonomia  —  </a:t>
            </a:r>
            <a:r>
              <a:rPr sz="1700">
                <a:solidFill>
                  <a:srgbClr val="9FC7BB"/>
                </a:solidFill>
                <a:latin typeface="Segoe UI"/>
              </a:rPr>
              <a:t>agente de tareas multi-paso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020056"/>
            <a:ext cx="777240" cy="777240"/>
          </a:xfrm>
          <a:prstGeom prst="ellipse">
            <a:avLst/>
          </a:prstGeom>
          <a:solidFill>
            <a:srgbClr val="0D2230"/>
          </a:solidFill>
          <a:ln w="19050">
            <a:solidFill>
              <a:srgbClr val="2DF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DFFAE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5020056"/>
            <a:ext cx="9784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>
                <a:solidFill>
                  <a:srgbClr val="F4FBF8"/>
                </a:solidFill>
                <a:latin typeface="Segoe UI Semibold"/>
              </a:rPr>
              <a:t>📱 Alcance  —  </a:t>
            </a:r>
            <a:r>
              <a:rPr sz="1700">
                <a:solidFill>
                  <a:srgbClr val="9FC7BB"/>
                </a:solidFill>
                <a:latin typeface="Segoe UI"/>
              </a:rPr>
              <a:t>control remoto / movil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43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2DFFAE"/>
                </a:solidFill>
                <a:latin typeface="Segoe UI"/>
              </a:rPr>
              <a:t>Documento vivo, pensado para escalar.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1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FC7BB"/>
                </a:solidFill>
                <a:latin typeface="Segoe UI"/>
              </a:rPr>
              <a:t>GENESIS  ·  Asistente de IA personal, 100% 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46520"/>
            <a:ext cx="1399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8C98A"/>
                </a:solidFill>
                <a:latin typeface="Segoe UI Semibold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280160" cy="508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4FBF8"/>
                </a:solidFill>
                <a:latin typeface="Segoe UI Semibold"/>
              </a:rPr>
              <a:t>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DFFAE"/>
                </a:solidFill>
                <a:latin typeface="Segoe UI"/>
              </a:rPr>
              <a:t>Por que importa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🛡️ Privacidad y </a:t>
            </a:r>
            <a:r>
              <a:rPr sz="1900" b="1">
                <a:solidFill>
                  <a:srgbClr val="F4FBF8"/>
                </a:solidFill>
                <a:latin typeface="Segoe UI"/>
              </a:rPr>
              <a:t>soberania tecnologica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♿ Accesibilidad </a:t>
            </a:r>
            <a:r>
              <a:rPr sz="1900" b="0">
                <a:solidFill>
                  <a:srgbClr val="9FC7BB"/>
                </a:solidFill>
                <a:latin typeface="Segoe UI"/>
              </a:rPr>
              <a:t>(control por voz del equipo)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🎓 Educacion: </a:t>
            </a:r>
            <a:r>
              <a:rPr sz="1900" b="0">
                <a:solidFill>
                  <a:srgbClr val="9FC7BB"/>
                </a:solidFill>
                <a:latin typeface="Segoe UI"/>
              </a:rPr>
              <a:t>IA aplicada y arquitectura real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⚡ Productividad: </a:t>
            </a:r>
            <a:r>
              <a:rPr sz="1900" b="0">
                <a:solidFill>
                  <a:srgbClr val="9FC7BB"/>
                </a:solidFill>
                <a:latin typeface="Segoe UI"/>
              </a:rPr>
              <a:t>automatizacion del escritorio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DFFAE"/>
                </a:solidFill>
                <a:latin typeface="Segoe UI Semibold"/>
              </a:rPr>
              <a:t>▸  </a:t>
            </a:r>
            <a:r>
              <a:rPr sz="1900" b="1">
                <a:solidFill>
                  <a:srgbClr val="F4FBF8"/>
                </a:solidFill>
                <a:latin typeface="Segoe UI"/>
              </a:rPr>
              <a:t>🌎 Independencia: </a:t>
            </a:r>
            <a:r>
              <a:rPr sz="1900" b="0">
                <a:solidFill>
                  <a:srgbClr val="9FC7BB"/>
                </a:solidFill>
                <a:latin typeface="Segoe UI"/>
              </a:rPr>
              <a:t>sin proveedores externos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2700"/>
          </a:xfrm>
          <a:prstGeom prst="rect">
            <a:avLst/>
          </a:prstGeom>
          <a:solidFill>
            <a:srgbClr val="1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FC7BB"/>
                </a:solidFill>
                <a:latin typeface="Segoe UI"/>
              </a:rPr>
              <a:t>GENESIS  ·  Asistente de IA personal, 100%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99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8C98A"/>
                </a:solidFill>
                <a:latin typeface="Segoe UI Semibold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57200" cy="254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5400" cy="4572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0" y="320040"/>
            <a:ext cx="457200" cy="254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0" y="320040"/>
            <a:ext cx="25400" cy="4572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080760"/>
            <a:ext cx="457200" cy="254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5648960"/>
            <a:ext cx="25400" cy="4572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0" y="6080760"/>
            <a:ext cx="457200" cy="254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0" y="5648960"/>
            <a:ext cx="25400" cy="457200"/>
          </a:xfrm>
          <a:prstGeom prst="rect">
            <a:avLst/>
          </a:prstGeom>
          <a:solidFill>
            <a:srgbClr val="2DF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4FBF8"/>
                </a:solidFill>
                <a:latin typeface="Segoe UI Semibold"/>
              </a:rPr>
              <a:t>GENESIS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2DFFAE"/>
                </a:solidFill>
                <a:latin typeface="Segoe UI"/>
              </a:rPr>
              <a:t>IA personal, local y soberana.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4FBF8"/>
                </a:solidFill>
                <a:latin typeface="Segoe UI Semibold"/>
              </a:rPr>
              <a:t>Piensa. Ve. Habla. Crea. Actua. En tu PC.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FC7BB"/>
                </a:solidFill>
                <a:latin typeface="Segoe UI"/>
              </a:rPr>
              <a:t>Alex Quiñones — (contacto)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